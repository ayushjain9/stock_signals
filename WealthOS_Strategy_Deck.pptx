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WealthOS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BCCE8"/>
                </a:solidFill>
              </a:rPr>
              <a:t>Systematic Alpha Framework for Indian Equities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63240"/>
            <a:ext cx="82296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9AACC"/>
                </a:solidFill>
              </a:rPr>
              <a:t>Four production strategies · Nifty 50 &amp; Midcap 50 · ₹15L+ AUM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217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AA"/>
                </a:solidFill>
              </a:rPr>
              <a:t>Confidential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8"/>
                </a:solidFill>
              </a:rPr>
              <a:t>WealthOS delivers systematic, rules-based alpha across two distinct return drivers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37744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307592"/>
            <a:ext cx="2157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A"/>
                </a:solidFill>
              </a:rPr>
              <a:t>8.68%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89280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Jensen's Alpha (OOS)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22199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5-yr walk-forward · Nifty 50 momentum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234440"/>
            <a:ext cx="237744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35808" y="1307592"/>
            <a:ext cx="2157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5BB5"/>
                </a:solidFill>
              </a:rPr>
              <a:t>16–18%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89280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NiftyShop XIRR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222199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2-yr backtest · with 200DMA filter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1234440"/>
            <a:ext cx="237744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96128" y="1307592"/>
            <a:ext cx="215798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5A5A5A"/>
                </a:solidFill>
              </a:rPr>
              <a:t>−15.51% vs −15.99%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189280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Max Drawdown vs Benchmark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222199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Momentum OOS; smaller drawdown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234440"/>
            <a:ext cx="237744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1307592"/>
            <a:ext cx="2157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5BB5"/>
                </a:solidFill>
              </a:rPr>
              <a:t>60.7%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189280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Hit Ratio (OOS)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872" y="222199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Months strategy beats NIFTY 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0" y="1234440"/>
            <a:ext cx="237744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16768" y="1307592"/>
            <a:ext cx="215798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A000"/>
                </a:solidFill>
              </a:rPr>
              <a:t>₹15L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80192" y="1892808"/>
            <a:ext cx="22311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Total Deployed Sleeve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80192" y="2221992"/>
            <a:ext cx="22311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5A5A5A"/>
                </a:solidFill>
              </a:rPr>
              <a:t>₹9L momentum + ₹4L shop + ₹2L×2 midcap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880360"/>
            <a:ext cx="3657600" cy="347472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2971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Strategy Logic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32644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Momentum: trend-following with 8-signal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35204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Mean-reversion: weekly 20DMA dip-buying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37764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Value: fundamental quality + cheapness screen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0325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All signals validated out-of-sample (OOS)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80" y="2880360"/>
            <a:ext cx="3657600" cy="347472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2272" y="2971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Risk Controls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62272" y="32644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Sector cap: max 3 stocks per sector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2272" y="35204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Exit buffer: exit only if score −15+ pts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2272" y="37764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Hard stop: −15% from entry price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62272" y="40325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200DMA gate on mean-reversion (quality filter)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880360"/>
            <a:ext cx="3657600" cy="347472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94192" y="29718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Edge Source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326440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Vol surge signal: +0.95pp alpha OOS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94192" y="35204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6M Jegadeesh-Titman RS: +2.20pp OOS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3776472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Alpha sensitivity: only 0.14pp lost per 1pp Nifty fall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94192" y="4032504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Rejected real ADX &amp; graduated 52W high (noise)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OOS = Out-of-sample walk-forward validation  ·  All backtests use Yahoo Finance / NSE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Portfolio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8"/>
                </a:solidFill>
              </a:rPr>
              <a:t>Two return drivers × two universes = four independent sleeves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18872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31720" y="12070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Universe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8872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79" y="12070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19" y="118872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39" y="12070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Sleeve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18872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9" y="12070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Positions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1188720"/>
            <a:ext cx="192024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95560" y="120700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Target XIRR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1536192"/>
            <a:ext cx="11521440" cy="69494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3192" y="160934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Nifty 50
Momentum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160934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Nifty 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1" y="160934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Monthly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1" y="160934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₹9 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160934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15 stocks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2992" y="1609344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Nifty + 8–9%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249424"/>
            <a:ext cx="1152144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3192" y="232257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NiftyShop
Mean-Rev.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59152" y="232257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Nifty 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1" y="232257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Weekly (Fri 3pm)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91071" y="232257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₹4 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57031" y="232257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≤5 stocks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2992" y="2322576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16–18% XIRR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962656"/>
            <a:ext cx="11521440" cy="69494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93192" y="30358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Midcap 50
Momentum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59152" y="30358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Midcap 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1" y="30358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Monthly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1" y="30358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₹2 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30358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10 stocks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2992" y="3035808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Midcap + ~8%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675887"/>
            <a:ext cx="1152144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3192" y="3749039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MidcapShop
Mean-Rev.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59152" y="3749039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Midcap 50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1" y="3749039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Weekly (Fri 3pm)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91071" y="3749039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₹2 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7031" y="3749039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≤5 stocks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22992" y="3749039"/>
            <a:ext cx="1828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A5A"/>
                </a:solidFill>
              </a:rPr>
              <a:t>~18–22% XIRR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572000"/>
            <a:ext cx="11521440" cy="54864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65760" y="473659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A5A5A"/>
                </a:solidFill>
              </a:rPr>
              <a:t>The four sleeves are structurally independent: momentum captures trend, mean-reversion captures short-term dislocation. Drawdowns are unlikely to coincide — momentum drawdowns occur in trending markets, mean-reversion drawdowns in choppy/falling markets.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440680"/>
            <a:ext cx="11521440" cy="1097280"/>
          </a:xfrm>
          <a:prstGeom prst="rect">
            <a:avLst/>
          </a:prstGeom>
          <a:solidFill>
            <a:srgbClr val="E8F4E8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A"/>
                </a:solidFill>
              </a:rPr>
              <a:t>Bonus Tool — Value Screener (not a trading sleeve)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806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Scans 400+ NSE mid/small caps weekly on 8 fundamental metrics (ROE, Revenue Growth, Margins, Debt/Equity, PE vs sector, Promoter holding, OCF, EPS consistency). Outputs a shortlist for 3–5 year core positions. Not backtested — analyst judgment required.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Midcap strategies are paper-trade phase — validate 2 months before full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Signal Stack — Momentum v6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8"/>
                </a:solidFill>
              </a:rPr>
              <a:t>Eight orthogonal signals, score capped at 100 pts · validated out-of-sample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685800" cy="5303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1615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 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119786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Trend Direction (DMA Alignment)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41732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</a:rPr>
              <a:t>Price &gt; 25D &gt; 50D &gt; 200D = 'Brutal Strength'. Full alignment required for max pts.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00784"/>
            <a:ext cx="11521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700784"/>
            <a:ext cx="685800" cy="53035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" y="177393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25 pts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175564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RS vs Benchmark — 90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1975104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</a:rPr>
              <a:t>90-day excess return vs ^NSEI / ^NSMIDCP. Highest weight: relative strength is the core edge.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58568"/>
            <a:ext cx="11521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258568"/>
            <a:ext cx="685800" cy="530352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233172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8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31343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RS vs Benchmark — 6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253288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</a:rPr>
              <a:t>Jegadeesh-Titman 6M lookback, skip last 1M. OOS validated: +2.20pp alpha. Tested and kept.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16352"/>
            <a:ext cx="11521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2816352"/>
            <a:ext cx="68580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0040" y="2889504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20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871216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Volatility-Adj. Momentum (VAM)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3090672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</a:rPr>
              <a:t>ROC(66d) / ATR%. Filters stocks with chaotic price spikes. Rewards smooth momentum.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74136"/>
            <a:ext cx="11521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374136"/>
            <a:ext cx="685800" cy="53035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3447288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6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3429000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52-Week High Proximity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3648456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</a:rPr>
              <a:t>Within −5% of yearly high. Institutional accumulation signal.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931920"/>
            <a:ext cx="11521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931920"/>
            <a:ext cx="685800" cy="53035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0040" y="4005072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 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" y="3986784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Multi-Timeframe EMA Alignment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" y="4206240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</a:rPr>
              <a:t>E5 &gt; E20 &gt; E50 &gt; E200. Short-term trend confirmation nested inside long-term.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489704"/>
            <a:ext cx="11521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4489704"/>
            <a:ext cx="685800" cy="5303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4562856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7 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" y="45445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ADX Direction Proxy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8992" y="4764024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</a:rPr>
              <a:t>Price acceleration over 10-day windows. Note: real ADX tested and REJECTED — underperformed.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047488"/>
            <a:ext cx="11521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5047488"/>
            <a:ext cx="685800" cy="5303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20040" y="5120640"/>
            <a:ext cx="685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 6 pts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8992" y="5102352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Volume Surge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321808"/>
            <a:ext cx="10607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A5A5A"/>
                </a:solidFill>
              </a:rPr>
              <a:t>5D avg &gt; 1.5–2× 20D avg. OOS validated: +0.95pp alpha. Institutional conviction proxy.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Signals tested and REJECTED: real ADX (underperformed every config) · graduated 52W high (+0.21pp OOS — noise level, not kept)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NiftyShop — Mean-Reversion Mechanics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8"/>
                </a:solidFill>
              </a:rPr>
              <a:t>Weekly signal · Friday 3:15pm · 5-minute execution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286000" cy="1463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All 50 stocks
below 20DMA
(weekly dip)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3E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34440"/>
            <a:ext cx="2286000" cy="146304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QUALITY
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55648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Price &gt; 200DMA?
Structural uptrend
intact?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3E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34440"/>
            <a:ext cx="2286000" cy="146304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PRIORITY
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55648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SELL first (≥+8%)
then AVERAGE (−3%)
then FRESH BUY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7373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D1B3E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1234440"/>
            <a:ext cx="2286000" cy="14630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1280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EXECUTE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755648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 trade/week
in Zerodha
3:20–3:30pm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26080"/>
            <a:ext cx="5486400" cy="16002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017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Entry Sizes (Nifty 50)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31012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Fresh buy:  ₹10,000 per slot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661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Averaging:  ₹15,000 (at −3% from cost)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82219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Max invested per stock:  ₹40,000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07822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Max simultaneous positions:  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617720"/>
            <a:ext cx="5486400" cy="16002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7091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Entry Sizes (Midcap 50)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001768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Fresh buy:  ₹5,000–6,250 per slot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2578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Averaging:  ₹7,500–9,375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13832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Higher risk — midcaps fall harder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769864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Same 200DMA quality gate applies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2926080"/>
            <a:ext cx="5623560" cy="16002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30175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Exit Logic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331012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Target: price ≥ avg cost × 1.08 (+8%)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5661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No time-based exit — let winners 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8221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Forced exit: 200DMA breach (thesis broken)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0782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Priority: SELL before any new buy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4617720"/>
            <a:ext cx="5623560" cy="16002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470916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Why 200DMA Filter?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500176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Without filter: XIRR 13–21%, MDD −4.7 to −7.5%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55080" y="525780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With filter: XIRR ~16–18% (estimated)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55080" y="551383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Removes structural declines (Adani-style falls)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576986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5A5A"/>
                </a:solidFill>
              </a:rPr>
              <a:t>▸  Midcap MDD without filter: −11.93%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Trade log format: date, symbol, action (BUY_FRESH|BUY_AVG|SELL), price, quantity, amount  ·  Manually logged after Zerodha execution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Validated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8"/>
                </a:solidFill>
              </a:rPr>
              <a:t>All numbers from 5-year walk-forward backtests (Nifty 50 momentum) or 2-yr backtests (NiftyShop)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1521440" cy="292608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20700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MOMENTUM STRATEGY — NIFTY 50 (v6, 5-year walk-forward)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572768"/>
            <a:ext cx="224028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645920"/>
            <a:ext cx="2020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A"/>
                </a:solidFill>
              </a:rPr>
              <a:t>8.68%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231136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Jensen's Alpha
(OOS)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560320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vs 8.41% baseline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572768"/>
            <a:ext cx="224028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07208" y="1645920"/>
            <a:ext cx="2020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5BB5"/>
                </a:solidFill>
              </a:rPr>
              <a:t>0.79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2231136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Sharpe Ratio
(OOS)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70632" y="2560320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vs 0.87 baseline
(higher alpha, harder mkt)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1572768"/>
            <a:ext cx="224028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84648" y="1645920"/>
            <a:ext cx="2020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A5A5A"/>
                </a:solidFill>
              </a:rPr>
              <a:t>−15.51%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48072" y="2231136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Max Drawdown
(OOS)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48072" y="2560320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Benchmark: −15.99%
Smaller than 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1572768"/>
            <a:ext cx="224028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62088" y="1645920"/>
            <a:ext cx="2020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5BB5"/>
                </a:solidFill>
              </a:rPr>
              <a:t>60.7%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25512" y="2231136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Hit Ratio
(OOS)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5512" y="2560320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Months beating Nifty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1572768"/>
            <a:ext cx="2240280" cy="137160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39528" y="1645920"/>
            <a:ext cx="2020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A"/>
                </a:solidFill>
              </a:rPr>
              <a:t>−0.14pp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02952" y="2231136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Alpha Sensitivity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02952" y="2560320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Per 1pp Nifty decline
(highly robust)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154680"/>
            <a:ext cx="11521440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3172968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SIGNAL IMPROVEMENT LOG (what moved the needle)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474720"/>
            <a:ext cx="1152144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7200" y="3529584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Volume Surge (5D avg &gt; 1.5–2× 20D avg)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529584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+0.95pp OOS alpha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66960" y="3520440"/>
            <a:ext cx="1645920" cy="23774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966960" y="352044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ADDED to v6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3822191"/>
            <a:ext cx="11521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3877055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6-Month RS — Jegadeesh-Titman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3877055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+2.20pp OOS alpha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60" y="3867911"/>
            <a:ext cx="1645920" cy="23774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966960" y="3867911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ADDED to v6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169663"/>
            <a:ext cx="11521440" cy="3291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7200" y="4224527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Real ADX (14-period)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224527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Underperformed every config tested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4215383"/>
            <a:ext cx="1645920" cy="2377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66960" y="4215383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517136"/>
            <a:ext cx="1152144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4572000"/>
            <a:ext cx="5943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5A5A5A"/>
                </a:solidFill>
              </a:rPr>
              <a:t>Graduated 52W High Proximity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572000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+0.21pp OOS — within noise band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966960" y="4562856"/>
            <a:ext cx="1645920" cy="23774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966960" y="4562856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REJECTED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892040"/>
            <a:ext cx="11521440" cy="2743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49103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NIFTYSHOP — NIFTY 50 (2-year backtest)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257800"/>
            <a:ext cx="2240280" cy="123444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9768" y="5330952"/>
            <a:ext cx="2020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5A5A5A"/>
                </a:solidFill>
              </a:rPr>
              <a:t>13–21%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93192" y="5916168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XIRR (no filter)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93192" y="6245352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Range across 2yr window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697480" y="5257800"/>
            <a:ext cx="2240280" cy="123444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07208" y="5330952"/>
            <a:ext cx="2020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A"/>
                </a:solidFill>
              </a:rPr>
              <a:t>~16–18%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770632" y="5916168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XIRR (200DMA filter)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70632" y="6245352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Quality stocks only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74920" y="5257800"/>
            <a:ext cx="2240280" cy="123444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184648" y="5330952"/>
            <a:ext cx="20208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1A7A4A"/>
                </a:solidFill>
              </a:rPr>
              <a:t>−4.7 to
−7.5%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48072" y="5916168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Max Drawdown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48072" y="6245352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Nifty 50 universe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452360" y="5257800"/>
            <a:ext cx="2240280" cy="123444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562088" y="5330952"/>
            <a:ext cx="2020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0392B"/>
                </a:solidFill>
              </a:rPr>
              <a:t>−11.93%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25512" y="5916168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Midcap MDD (no filter)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25512" y="6245352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Midcaps fall harder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829800" y="5257800"/>
            <a:ext cx="2240280" cy="1234440"/>
          </a:xfrm>
          <a:prstGeom prst="rect">
            <a:avLst/>
          </a:prstGeom>
          <a:solidFill>
            <a:srgbClr val="F4F5F7"/>
          </a:solidFill>
          <a:ln w="635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39528" y="5330952"/>
            <a:ext cx="202082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5BB5"/>
                </a:solidFill>
              </a:rPr>
              <a:t>1/week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02952" y="5916168"/>
            <a:ext cx="20939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Trade frequency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902952" y="6245352"/>
            <a:ext cx="20939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A5A5A"/>
                </a:solidFill>
              </a:rPr>
              <a:t>Friday 3:15pm · 5 min exec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" y="6502072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Midcap momentum not yet walk-forward validated — paper trade 2 months before full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Risk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8"/>
                </a:solidFill>
              </a:rPr>
              <a:t>Four layered defences — position, sector, score, and price-based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6692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02920" cy="246888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2011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5BB5"/>
                </a:solidFill>
              </a:rPr>
              <a:t>Position Sizing
(Equal Weight)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All momentum positions: equal weight (₹60K each on ₹9L)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No single stock can dominate P&amp;L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334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Mean-reversion: capped total per stock (₹40K max, Nifty 50)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7238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Prevents averaging into a fundamentally broken 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188720"/>
            <a:ext cx="56692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63640" y="1188720"/>
            <a:ext cx="502920" cy="24688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01168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2801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Sector Cap
(Max 3 per sector)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175564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At most 3 momentum stocks from same GICS sector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1945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Prevents sector concentration (e.g. 8/15 in Financials)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334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Applied at selection step — not post-hoc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07238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Sector map maintained in config.py (single source of truth)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840480"/>
            <a:ext cx="56692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3840480"/>
            <a:ext cx="502920" cy="246888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46634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A000"/>
                </a:solidFill>
              </a:rPr>
              <a:t>Exit Buffer
(Score −15 pts)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074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Momentum holding kept if score ≥ entry_score − 15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846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Cuts unnecessary turnover: 474% → 330% annual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852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Avoids whipsawing around the top-15 boundary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2414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Hard override: always exit if hard stop triggered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3840480"/>
            <a:ext cx="566928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263640" y="3840480"/>
            <a:ext cx="502920" cy="24688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4663440"/>
            <a:ext cx="502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9319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Hard Stop
(Price −15%)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440740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Force-exit any momentum holding down 15%+ from entry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4846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Protects against fundamental deterioration mid-period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2852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Mean-reversion: 200DMA breach = thesis broken → exit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5724144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5A5A"/>
                </a:solidFill>
              </a:rPr>
              <a:t>▸  Midcap extra risk: MDD without filter was −11.93%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Exit buffer validated in backtest_v3_final.py  ·  Dynamic sector cap tested in v4 — static cap chosen for simplicity and equivalent performance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Forward Return Expectations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8"/>
                </a:solidFill>
              </a:rPr>
              <a:t>Honest range estimates — base, bull, bear — grounded in validated alpha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365760"/>
          </a:xfrm>
          <a:prstGeom prst="rect">
            <a:avLst/>
          </a:prstGeom>
          <a:solidFill>
            <a:srgbClr val="FFF3CD"/>
          </a:solidFill>
          <a:ln w="12700">
            <a:solidFill>
              <a:srgbClr val="E8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7D5A00"/>
                </a:solidFill>
              </a:rPr>
              <a:t>⚠  Forward estimates are probabilistic ranges, not guarantees. They are derived from OOS backtest alpha + Nifty base-rate return assumptions. Actual returns depend on Nifty trajectory, volatility, and signal drift.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219456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618488"/>
            <a:ext cx="219456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600200"/>
            <a:ext cx="155448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14600" y="1618488"/>
            <a:ext cx="1554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Bear
(Nifty −5%)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79" y="1600200"/>
            <a:ext cx="155448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9079" y="1618488"/>
            <a:ext cx="1554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Base
(Nifty +12%)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23559" y="1600200"/>
            <a:ext cx="155448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23559" y="1618488"/>
            <a:ext cx="1554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Bull
(Nifty +20%)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78040" y="1600200"/>
            <a:ext cx="256032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78040" y="1618488"/>
            <a:ext cx="25603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Key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38360" y="1600200"/>
            <a:ext cx="155448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38360" y="1618488"/>
            <a:ext cx="15544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Time Horizon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057400"/>
            <a:ext cx="219456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103120"/>
            <a:ext cx="2103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Nifty 50
Momentum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2057400"/>
            <a:ext cx="155448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0" y="2103120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−3 to 0%
(alpha holds,
benchmark drags)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9079" y="2057400"/>
            <a:ext cx="155448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799" y="2103120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+18 to 22%
(alpha ~8–9pp
above Nifty)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59" y="2057400"/>
            <a:ext cx="155448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79" y="2103120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+26 to 30%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78040" y="2057400"/>
            <a:ext cx="256032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223760" y="2103120"/>
            <a:ext cx="246887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Alpha shrinks in
strong mean-reversion
markets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2057400"/>
            <a:ext cx="155448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84080" y="2103120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Monthly · 5 yr+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862072"/>
            <a:ext cx="219456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5760" y="2907792"/>
            <a:ext cx="2103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NiftyShop
(N50)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2862072"/>
            <a:ext cx="155448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560320" y="2907792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+8 to 12%
(dips = more
opportunity)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069079" y="2862072"/>
            <a:ext cx="155448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114799" y="2907792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+16 to 18%
(validated
range)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23559" y="2862072"/>
            <a:ext cx="155448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79" y="2907792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+18 to 22%
(fewer dips,
less opportunity)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78040" y="2862072"/>
            <a:ext cx="256032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223760" y="2907792"/>
            <a:ext cx="246887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Structural bear:
200DMA filter fires,
fewer entries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738360" y="2862072"/>
            <a:ext cx="155448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784080" y="2907792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Weekly · 2 yr+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666744"/>
            <a:ext cx="219456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3712464"/>
            <a:ext cx="2103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Midcap
Momentum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14600" y="3666744"/>
            <a:ext cx="155448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560320" y="3712464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−8 to −3%
(midcaps fall
harder)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069079" y="3666744"/>
            <a:ext cx="155448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799" y="3712464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+18 to 25%
(higher beta
to Nifty)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59" y="3666744"/>
            <a:ext cx="155448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69279" y="3712464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+28 to 35%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78040" y="3666744"/>
            <a:ext cx="256032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23760" y="3712464"/>
            <a:ext cx="246887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NOT yet validated OOS
—paper trade first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38360" y="3666744"/>
            <a:ext cx="1554480" cy="786384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84080" y="3712464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Monthly · paper 2m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471416"/>
            <a:ext cx="219456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5760" y="4517136"/>
            <a:ext cx="2103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MidcapShop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14600" y="4471416"/>
            <a:ext cx="155448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560320" y="4517136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+5 to 10%
(higher dip
frequency)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069079" y="4471416"/>
            <a:ext cx="155448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114799" y="4517136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+18 to 22%
(estimated,
not OOS validated)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623559" y="4471416"/>
            <a:ext cx="155448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5669279" y="4517136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+20 to 25%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78040" y="4471416"/>
            <a:ext cx="256032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23760" y="4517136"/>
            <a:ext cx="246887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MDD −11.93% without
200DMA filter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738360" y="4471416"/>
            <a:ext cx="1554480" cy="78638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784080" y="4517136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Weekly · paper 2m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5276088"/>
            <a:ext cx="2194560" cy="786384"/>
          </a:xfrm>
          <a:prstGeom prst="rect">
            <a:avLst/>
          </a:prstGeom>
          <a:solidFill>
            <a:srgbClr val="E8F0FE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65760" y="5321808"/>
            <a:ext cx="2103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</a:rPr>
              <a:t>Combined
Portfolio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514600" y="5276088"/>
            <a:ext cx="1554480" cy="786384"/>
          </a:xfrm>
          <a:prstGeom prst="rect">
            <a:avLst/>
          </a:prstGeom>
          <a:solidFill>
            <a:srgbClr val="E8F0FE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560320" y="5321808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+3 to 6%
(diversification
benefit)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69079" y="5276088"/>
            <a:ext cx="1554480" cy="786384"/>
          </a:xfrm>
          <a:prstGeom prst="rect">
            <a:avLst/>
          </a:prstGeom>
          <a:solidFill>
            <a:srgbClr val="E8F0FE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114799" y="5321808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+17 to 21%
(weighted blend)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623559" y="5276088"/>
            <a:ext cx="1554480" cy="786384"/>
          </a:xfrm>
          <a:prstGeom prst="rect">
            <a:avLst/>
          </a:prstGeom>
          <a:solidFill>
            <a:srgbClr val="E8F0FE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669279" y="5321808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7A4A"/>
                </a:solidFill>
              </a:rPr>
              <a:t>+24 to 28%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78040" y="5276088"/>
            <a:ext cx="2560320" cy="786384"/>
          </a:xfrm>
          <a:prstGeom prst="rect">
            <a:avLst/>
          </a:prstGeom>
          <a:solidFill>
            <a:srgbClr val="E8F0FE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223760" y="5321808"/>
            <a:ext cx="246887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0392B"/>
                </a:solidFill>
              </a:rPr>
              <a:t>Correlated drawdowns
in sharp market
fall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38360" y="5276088"/>
            <a:ext cx="1554480" cy="786384"/>
          </a:xfrm>
          <a:prstGeom prst="rect">
            <a:avLst/>
          </a:prstGeom>
          <a:solidFill>
            <a:srgbClr val="E8F0FE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84080" y="5321808"/>
            <a:ext cx="1463039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A5A5A"/>
                </a:solidFill>
              </a:rPr>
              <a:t>Ongoing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" y="6172200"/>
            <a:ext cx="11521440" cy="384048"/>
          </a:xfrm>
          <a:prstGeom prst="rect">
            <a:avLst/>
          </a:prstGeom>
          <a:solidFill>
            <a:srgbClr val="E8F4E8"/>
          </a:solidFill>
          <a:ln w="635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57200" y="620877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5C2A"/>
                </a:solidFill>
              </a:rPr>
              <a:t>Assumptions: Nifty base case = 12% CAGR (10-yr historical average). Momentum alpha = 8.68pp OOS (may compress 10–20% in efficient periods). NiftyShop XIRR range from 2yr backtest. Alpha sensitivity: 0.14pp lost per 1pp Nifty decline — strategy is robust to moderate market weakness.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Forward returns are estimates only · Past OOS performance does not guarantee future results · Review signal health quarterly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Operational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8"/>
                </a:solidFill>
              </a:rPr>
              <a:t>Exact commands and timing — treat as a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11521440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19786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MONTHLY (Sunday evening, ~20 min)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1521440" cy="365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5179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Nifty 50 Momentum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51790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nifty50_Momentum_deploy.py --sleeve 900000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51790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Read rebalancing action list → execute Monday open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828800"/>
            <a:ext cx="115214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188366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Midcap 50 Momentum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188366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midcap_momentum_deploy.py --sleeve 200000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88366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Paper trade — log expected vs actual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94560"/>
            <a:ext cx="11521440" cy="365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224942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Save updated holdings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24942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nifty50_Momentum_deploy.py --save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24942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Writes current_holdings.txt after execution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60320"/>
            <a:ext cx="115214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26151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Scores-only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61518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nifty50_Momentum_deploy.py --scores-only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615184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All 50 scores — useful for conviction 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017520"/>
            <a:ext cx="11521440" cy="27432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3044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WEEKLY (Friday 3:15pm, ~5 min)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10128"/>
            <a:ext cx="11521440" cy="365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33649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Nifty 50 NiftyShop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336499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niftyshop_deploy.py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36499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Read signal → execute 1 trade by 3:30pm → log to trade_log.csv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675888"/>
            <a:ext cx="115214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1480" y="373075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Midcap NiftyShop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373075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midcap_niftyshop_deploy.py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73075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Paper trade — log to midcap_trade_log.csv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041648"/>
            <a:ext cx="11521440" cy="365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1480" y="40965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Status 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40965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niftyshop_deploy.py --status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09651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Portfolio snapshot without generating new signal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407408"/>
            <a:ext cx="115214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1480" y="446227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History / P&amp;L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46227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niftyshop_deploy.py --history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446227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Closed positions and realised P&amp;L from trade_log.csv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4864608"/>
            <a:ext cx="11521440" cy="2743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" y="489204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ON-DEMAND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5157216"/>
            <a:ext cx="11521440" cy="365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11480" y="5212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Momentum screener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52120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momentum_screener_v3.py --min-score 60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521208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Institutional-grade Nifty 50 signal report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522976"/>
            <a:ext cx="115214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55778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Value screener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86000" y="557784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value_screener.py --top 10 --export picks.csv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57784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400+ mid/small cap fundamental scan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5888736"/>
            <a:ext cx="11521440" cy="3657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11480" y="594360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D1B3E"/>
                </a:solidFill>
              </a:rPr>
              <a:t>Sector filter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286000" y="594360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5BB5"/>
                </a:solidFill>
              </a:rPr>
              <a:t>python value_screener.py --sector 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66560" y="5943600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Sector-specific value screen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Archive/ folder = superseded scripts, do not run  ·  Backtest/ folder = R&amp;D only  ·  All live scripts in root directory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Appendix — Backtester R&amp;D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CCE8"/>
                </a:solidFill>
              </a:rPr>
              <a:t>How each backtest version improved on the previous 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70432"/>
            <a:ext cx="11521440" cy="457200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192024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47472" y="126187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22529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</a:rPr>
              <a:t>v1 · backtest_momentum.py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408176"/>
            <a:ext cx="9326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</a:rPr>
              <a:t>Core momentum score, transaction costs, 5-year walk-forward framework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55064"/>
            <a:ext cx="115214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655064"/>
            <a:ext cx="192024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" y="174650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Sector 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170992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</a:rPr>
              <a:t>v2 · backtest_v2.py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892808"/>
            <a:ext cx="9326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</a:rPr>
              <a:t>Added sector concentration cap + parameter grid search across top-N and sector limits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39696"/>
            <a:ext cx="11521440" cy="457200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2139696"/>
            <a:ext cx="192024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47472" y="223113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Exit Buffer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2194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</a:rPr>
              <a:t>v3 · backtest_v3_final.py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377440"/>
            <a:ext cx="9326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</a:rPr>
              <a:t>Exit only if score dropped 15+ pts from entry. Turnover cut: 474% → 330%. Baseline alpha 8.41%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624328"/>
            <a:ext cx="115214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20040" y="2624328"/>
            <a:ext cx="192024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271576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Dynamic Sector Cap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67919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</a:rPr>
              <a:t>v4 · backtest_v4_dynamic_sector.py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2862072"/>
            <a:ext cx="9326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</a:rPr>
              <a:t>Cap shrinks when sector trailing returns go negative. Marginal improvement — complexity not worth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08960"/>
            <a:ext cx="11521440" cy="457200"/>
          </a:xfrm>
          <a:prstGeom prst="rect">
            <a:avLst/>
          </a:prstGeom>
          <a:solidFill>
            <a:srgbClr val="F4F5F7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" y="3108960"/>
            <a:ext cx="192024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47472" y="320040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Score Override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3163824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</a:rPr>
              <a:t>v5 · backtest_v5_override.py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346704"/>
            <a:ext cx="9326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</a:rPr>
              <a:t>Stocks ≥70/100 bypass sector cap (1 slot max). Allows high-conviction names through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593592"/>
            <a:ext cx="11521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3593592"/>
            <a:ext cx="1920240" cy="457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47472" y="3685032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Signal Sweep (CURRENT)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648456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</a:rPr>
              <a:t>v6 · backtest_v6_signals.py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3831336"/>
            <a:ext cx="9326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</a:rPr>
              <a:t>Tested 10+ signal variations. Kept: vol surge (+0.95pp), 6M RS (+2.20pp). Final alpha: 8.68% OOS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078224"/>
            <a:ext cx="1152144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0040" y="4078224"/>
            <a:ext cx="19202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7472" y="4169664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ABANDONED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31720" y="4133088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</a:rPr>
              <a:t>regime · backtest_regime.py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4315968"/>
            <a:ext cx="9326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</a:rPr>
              <a:t>Regime filters (bull/bear detection) failed to improve MDD and alpha simultaneously. Dropped.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562856"/>
            <a:ext cx="1152144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20040" y="4562856"/>
            <a:ext cx="1920240" cy="457200"/>
          </a:xfrm>
          <a:prstGeom prst="rect">
            <a:avLst/>
          </a:prstGeom>
          <a:solidFill>
            <a:srgbClr val="005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47472" y="4654296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NiftyShop Validation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31720" y="46177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</a:rPr>
              <a:t>shop · niftyshop_universe_backtest.py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800600"/>
            <a:ext cx="9326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</a:rPr>
              <a:t>Mean-reversion on Nifty 50, Nifty200 Momentum 30, Midcap 50. Added 200DMA filter after observing midcap MDD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5A5A"/>
                </a:solidFill>
              </a:rPr>
              <a:t>All backtest files are in the Backtest/ folder and should not be run in production  ·  R&amp;D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2362</Words>
  <Application>Microsoft Office PowerPoint</Application>
  <PresentationFormat>Custom</PresentationFormat>
  <Paragraphs>316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Jain</cp:lastModifiedBy>
  <cp:revision>2</cp:revision>
  <dcterms:created xsi:type="dcterms:W3CDTF">2013-01-27T09:14:16Z</dcterms:created>
  <dcterms:modified xsi:type="dcterms:W3CDTF">2026-05-29T13:06:02Z</dcterms:modified>
  <cp:category/>
</cp:coreProperties>
</file>